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c0403976bb42fa" /><Relationship Type="http://schemas.openxmlformats.org/officeDocument/2006/relationships/extended-properties" Target="/docProps/app.xml" Id="R28f001e6d34c4685" /><Relationship Type="http://schemas.openxmlformats.org/officeDocument/2006/relationships/officeDocument" Target="/ppt/presentation.xml" Id="Red83610019f94e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efb15d614445d8"/>
  </p:sldMasterIdLst>
  <p:notesMasterIdLst>
    <p:notesMasterId xmlns:r="http://schemas.openxmlformats.org/officeDocument/2006/relationships" r:id="Rf011d00544c24bce"/>
  </p:notesMasterIdLst>
  <p:sldIdLst>
    <p:sldId xmlns:r="http://schemas.openxmlformats.org/officeDocument/2006/relationships" id="256" r:id="R4b65a444bd294806"/>
    <p:sldId xmlns:r="http://schemas.openxmlformats.org/officeDocument/2006/relationships" id="257" r:id="R2b62ace3f3f24c56"/>
    <p:sldId xmlns:r="http://schemas.openxmlformats.org/officeDocument/2006/relationships" id="258" r:id="Rbfc76ef1ee6a4e33"/>
    <p:sldId xmlns:r="http://schemas.openxmlformats.org/officeDocument/2006/relationships" id="259" r:id="R6f2c50d268ef4202"/>
    <p:sldId xmlns:r="http://schemas.openxmlformats.org/officeDocument/2006/relationships" id="260" r:id="R2f75ea31eb824439"/>
    <p:sldId xmlns:r="http://schemas.openxmlformats.org/officeDocument/2006/relationships" id="261" r:id="R6b1a6594966e47a4"/>
    <p:sldId xmlns:r="http://schemas.openxmlformats.org/officeDocument/2006/relationships" id="262" r:id="R2e72c2bcbb6548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c67199678c4ed6" /><Relationship Type="http://schemas.openxmlformats.org/officeDocument/2006/relationships/slideMaster" Target="/ppt/slideMasters/slideMaster1.xml" Id="Re5efb15d614445d8" /><Relationship Type="http://schemas.openxmlformats.org/officeDocument/2006/relationships/notesMaster" Target="/ppt/notesMasters/notesMaster1.xml" Id="Rf011d00544c24bce" /><Relationship Type="http://schemas.openxmlformats.org/officeDocument/2006/relationships/presProps" Target="/ppt/presProps.xml" Id="Rbc4a6466a2c844cb" /><Relationship Type="http://schemas.openxmlformats.org/officeDocument/2006/relationships/tableStyles" Target="/ppt/tableStyles.xml" Id="R7ae8e35e20484363" /><Relationship Type="http://schemas.openxmlformats.org/officeDocument/2006/relationships/slide" Target="/ppt/slides/slide1.xml" Id="R4b65a444bd294806" /><Relationship Type="http://schemas.openxmlformats.org/officeDocument/2006/relationships/slide" Target="/ppt/slides/slide2.xml" Id="R2b62ace3f3f24c56" /><Relationship Type="http://schemas.openxmlformats.org/officeDocument/2006/relationships/slide" Target="/ppt/slides/slide3.xml" Id="Rbfc76ef1ee6a4e33" /><Relationship Type="http://schemas.openxmlformats.org/officeDocument/2006/relationships/slide" Target="/ppt/slides/slide4.xml" Id="R6f2c50d268ef4202" /><Relationship Type="http://schemas.openxmlformats.org/officeDocument/2006/relationships/slide" Target="/ppt/slides/slide5.xml" Id="R2f75ea31eb824439" /><Relationship Type="http://schemas.openxmlformats.org/officeDocument/2006/relationships/slide" Target="/ppt/slides/slide6.xml" Id="R6b1a6594966e47a4" /><Relationship Type="http://schemas.openxmlformats.org/officeDocument/2006/relationships/slide" Target="/ppt/slides/slide7.xml" Id="R2e72c2bcbb6548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0876cf773a4e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f43dd1cb394aea" /><Relationship Type="http://schemas.openxmlformats.org/officeDocument/2006/relationships/notesMaster" Target="/ppt/notesMasters/notesMaster1.xml" Id="R7119b299aeb647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5c4a338f574255" /><Relationship Type="http://schemas.openxmlformats.org/officeDocument/2006/relationships/notesMaster" Target="/ppt/notesMasters/notesMaster1.xml" Id="Ra4119b289f434d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01ef9dc30a4807" /><Relationship Type="http://schemas.openxmlformats.org/officeDocument/2006/relationships/notesMaster" Target="/ppt/notesMasters/notesMaster1.xml" Id="Ra7b5a0147f9347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08a11210a34a02" /><Relationship Type="http://schemas.openxmlformats.org/officeDocument/2006/relationships/notesMaster" Target="/ppt/notesMasters/notesMaster1.xml" Id="R2e689e4f93734c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015ba038df4a29" /><Relationship Type="http://schemas.openxmlformats.org/officeDocument/2006/relationships/notesMaster" Target="/ppt/notesMasters/notesMaster1.xml" Id="Rf86f85a6bf7646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3a84d150fd406d" /><Relationship Type="http://schemas.openxmlformats.org/officeDocument/2006/relationships/notesMaster" Target="/ppt/notesMasters/notesMaster1.xml" Id="R6056408265b644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a1911436964971" /><Relationship Type="http://schemas.openxmlformats.org/officeDocument/2006/relationships/notesMaster" Target="/ppt/notesMasters/notesMaster1.xml" Id="R06700f5aa24343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大家好，我介绍的是产业信息研究平台。项目目标比较宏大，希望把散落在公开网页中的信息，整理成有来源、可复核的产业研究数据。这次重点介绍用了哪些技术，以及这些模块如何协同完成一次研究。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项目依据：industry-evidence-platform，提交 a845580，2026-10-22。</a:t>
            </a:r>
          </a:p>
          <a:p xmlns:a="http://schemas.openxmlformats.org/drawingml/2006/main">
            <a:r>
              <a:t>项目文件：README.md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系统分成五层。React和TypeScript负责用户交互，Next.js提供页面和统一转发入口。FastAPI校验请求、提交任务并提供查询与下载接口。耗时操作交给独立Worker，所以浏览器不用一直等待请求结束。Worker再调用Python核心模块完成采集和建模。这样前端样式、服务接口和算法可以分别维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项目依据：industry-evidence-platform，提交 a845580，2026-10-22。</a:t>
            </a:r>
          </a:p>
          <a:p xmlns:a="http://schemas.openxmlformats.org/drawingml/2006/main">
            <a:r>
              <a:t>项目文件：frontend/src/features/research/LiveResearch.tsx；frontend/src/server/platform-proxy.ts；app/api/pipeline.py；app/pipeline_service.py；app/common/component.py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提交一组网址为例，请求先经过Next.js，再到FastAPI。接口提交任务后立即返回编号，页面随后查询这个编号来更新消息。Worker从持久队列领取任务，在统一Python环境中启动隔离子进程执行算法。结果通过状态接口和下载接口返回。当前Windows使用SQLite持久队列，不能把它说成已经部署了Redis集群。服务令牌和LLM密钥都留在服务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项目依据：industry-evidence-platform，提交 a845580，2026-10-22。</a:t>
            </a:r>
          </a:p>
          <a:p xmlns:a="http://schemas.openxmlformats.org/drawingml/2006/main">
            <a:r>
              <a:t>项目文件：app/api/pipeline.py；app/services/operations.py；app/operation_worker.py；app/common/component.py；app/local_service.py；frontend/src/server/platform-proxy.ts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条路径先共用同一套爬虫。爬虫检查站点策略、robots以及访问状态，不能采集的来源会显示具体原因。成功后保存原文件、正文和来源记录。分支发生在采集完成之后。用户可以继续自动处理，也可以进入教材分支，先下载材料。目前教材分支停在这里，后续按网页结构定制解析尚未继续开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项目依据：industry-evidence-platform，提交 a845580，2026-10-22。</a:t>
            </a:r>
          </a:p>
          <a:p xmlns:a="http://schemas.openxmlformats.org/drawingml/2006/main">
            <a:r>
              <a:t>项目文件：app/pipeline_cli.py；app/common/collection.py；app/pipeline_service.py；docs/采集后分支.md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动整理首先使用本地BGE向量模型，把用户需求和网页内容转成向量，再结合关键词、指标数值和相邻段落扩大召回。匹配内容先保存CSV，保留来源和原文位置。随后LLM通过API进行无记忆的结构化清洗，本地程序继续核对原句、数字与单位，避免把模型输出直接当成事实。最后用Pandas和规则整理口径、检查缺失，形成可比较的年度序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项目依据：industry-evidence-platform，提交 a845580，2026-10-22。</a:t>
            </a:r>
          </a:p>
          <a:p xmlns:a="http://schemas.openxmlformats.org/drawingml/2006/main">
            <a:r>
              <a:t>项目文件：app/pipeline/workflow.py；app/pipeline/selection.py；app/pipeline_llm.py；app/pipeline/llm_records.py；app/pipeline/data_quality.py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模先检查数据量和时间口径，默认至少需要二十个连续年度，并满足训练、验证和测试的独立样本门槛。数据不足就导出已有信息。XGBoost先用真实数据建立基线。只有真实训练样本至少六十四条，而且用户同意，才尝试WGAN-GP，框架可选PyTorch或TensorFlow，参数在JSON中配置。生成量为真实训练数的五倍。生成后做质量检查、画t-SNE，再让用户确认是否采用。t-SNE只能辅助观察。最终还要比较真实验证集表现，增强没有改善就回退。IsolationForest只检查训练异常，默认不删除样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项目依据：industry-evidence-platform，提交 a845580，2026-10-22。</a:t>
            </a:r>
          </a:p>
          <a:p xmlns:a="http://schemas.openxmlformats.org/drawingml/2006/main">
            <a:r>
              <a:t>项目文件：app/contracts/pipeline.py；app/pipeline/training.py；app/pipeline/gan.py；app/pipeline/cleaning.py；app/pipeline/plots.py；config/wgan.json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终输出分成CSV数据、Matplotlib绘制的PNG图表、JSON记录和趋势报告。项目统一使用根目录的Python三点一二环境，前端使用Node.js。CPU可以运行主要流程，但WGAN训练时间取决于配置，不能承诺轻薄本一定很快。最后的LLM独立输入本轮证据，只总结发展趋势。当前用真实公报材料已经触发过探索性XGBoost，但误差仍高于沿用上期值的基线。因此现阶段重点是让数据和处理过程可追溯，继续提高抽取质量和模型表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项目依据：industry-evidence-platform，提交 a845580，2026-10-22。</a:t>
            </a:r>
          </a:p>
          <a:p xmlns:a="http://schemas.openxmlformats.org/drawingml/2006/main">
            <a:r>
              <a:t>项目文件：app/common/paths.py；快速部署/README.md；app/advisor/integrated.py；docs/交接_20261022_双抽取路径.md；README.md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7411a1f8484cb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f6326c9fce4ca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603b99e1664a6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7e93197a314c4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50518c45b3488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9ca3a3c6f949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D38DB0-D666-4A5E-B2DE-4F8502C60B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E4596B5-D6F7-40E5-BCD1-604ECF7299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BD7C12F-4CE4-4A0A-A592-2042EBBECE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46234A4-5490-48EB-AD6C-E8B91C9A0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57FB1CC-29A5-48C8-AAC0-7528C2CEB5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EFBA3B9-CDEE-47CB-A2C9-1475889723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A7C8D4-2764-4025-90B8-832E242D7D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712034A-346D-4558-9BF8-81126F523B5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93BC8D-5B92-49E7-961F-E2A4BF8C86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A471E0F-7B9E-4508-94BB-6D6D40C003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162d1297a84882" /><Relationship Type="http://schemas.openxmlformats.org/officeDocument/2006/relationships/slideLayout" Target="/ppt/slideLayouts/slideLayout1.xml" Id="Rdbae14cc013347d1" /><Relationship Type="http://schemas.openxmlformats.org/officeDocument/2006/relationships/slideLayout" Target="/ppt/slideLayouts/slideLayout2.xml" Id="R5b1c30fb885e44b1" /><Relationship Type="http://schemas.openxmlformats.org/officeDocument/2006/relationships/slideLayout" Target="/ppt/slideLayouts/slideLayout3.xml" Id="Rca99d9b183284f24" /><Relationship Type="http://schemas.openxmlformats.org/officeDocument/2006/relationships/slideLayout" Target="/ppt/slideLayouts/slideLayout4.xml" Id="Rabf6ac7099824d19" /><Relationship Type="http://schemas.openxmlformats.org/officeDocument/2006/relationships/slideLayout" Target="/ppt/slideLayouts/slideLayout5.xml" Id="Rd7b88dae8d5b4b46" /><Relationship Type="http://schemas.openxmlformats.org/officeDocument/2006/relationships/slideLayout" Target="/ppt/slideLayouts/slideLayout6.xml" Id="R0a55ccfcc84940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ae14cc013347d1"/>
    <p:sldLayoutId xmlns:r="http://schemas.openxmlformats.org/officeDocument/2006/relationships" id="2147483650" r:id="R5b1c30fb885e44b1"/>
    <p:sldLayoutId xmlns:r="http://schemas.openxmlformats.org/officeDocument/2006/relationships" id="2147483651" r:id="Rca99d9b183284f24"/>
    <p:sldLayoutId xmlns:r="http://schemas.openxmlformats.org/officeDocument/2006/relationships" id="2147483652" r:id="Rabf6ac7099824d19"/>
    <p:sldLayoutId xmlns:r="http://schemas.openxmlformats.org/officeDocument/2006/relationships" id="2147483653" r:id="Rd7b88dae8d5b4b46"/>
    <p:sldLayoutId xmlns:r="http://schemas.openxmlformats.org/officeDocument/2006/relationships" id="2147483654" r:id="R0a55ccfcc84940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9400375c0f4c18" /><Relationship Type="http://schemas.openxmlformats.org/officeDocument/2006/relationships/notesSlide" Target="/ppt/notesSlides/notesSlide1.xml" Id="R5fa08b58efdf42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38416b4802449a" /><Relationship Type="http://schemas.openxmlformats.org/officeDocument/2006/relationships/notesSlide" Target="/ppt/notesSlides/notesSlide2.xml" Id="R1673bbe9936a4d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519c39d0d844ab" /><Relationship Type="http://schemas.openxmlformats.org/officeDocument/2006/relationships/notesSlide" Target="/ppt/notesSlides/notesSlide3.xml" Id="R8b5f857382d044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ec491386fb48c1" /><Relationship Type="http://schemas.openxmlformats.org/officeDocument/2006/relationships/notesSlide" Target="/ppt/notesSlides/notesSlide4.xml" Id="Rcd3b035605804d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8a9f1b5c5747d7" /><Relationship Type="http://schemas.openxmlformats.org/officeDocument/2006/relationships/notesSlide" Target="/ppt/notesSlides/notesSlide5.xml" Id="Rea46ad71250e42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42f07876f64302" /><Relationship Type="http://schemas.openxmlformats.org/officeDocument/2006/relationships/notesSlide" Target="/ppt/notesSlides/notesSlide6.xml" Id="R2e615d77bf4f4e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6787c452a446f8" /><Relationship Type="http://schemas.openxmlformats.org/officeDocument/2006/relationships/notesSlide" Target="/ppt/notesSlides/notesSlide7.xml" Id="R6173840ef71d49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B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CBF4B2F-BC83-42C4-BDD8-F49F0851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产业信息研究平台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87C91DA-81AF-4AAA-A060-FB22D989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80D6C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80D6C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80D6C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80D6C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80D6C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80D6C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80D6C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80D6C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80D6C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80D6C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80D6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80D6CB"/>
                </a:solidFill>
                <a:latin typeface="Microsoft YaHei"/>
                <a:ea typeface="Microsoft YaHei"/>
                <a:cs typeface="Microsoft YaHei"/>
              </a:rPr>
              <a:t>技术架构与协作流程</a:t>
            </a:r>
          </a:p>
        </p:txBody>
      </p:sp>
      <p:sp>
        <p:nvSpPr>
          <p:cNvPr id="4" name="cover-topic">
            <a:extLst xmlns:a="http://schemas.openxmlformats.org/drawingml/2006/main">
              <a:ext uri="{FF2B5EF4-FFF2-40B4-BE49-F238E27FC236}">
                <a16:creationId xmlns:a16="http://schemas.microsoft.com/office/drawing/2014/main" id="{75FDD0F5-70E7-47DA-936E-D2A56AD3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D9E5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D9E5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D9E5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D9E5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D9E5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D9E5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D9E5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D9E5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D9E5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D9E5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D9E5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D9E5EE"/>
                </a:solidFill>
                <a:latin typeface="Microsoft YaHei"/>
                <a:ea typeface="Microsoft YaHei"/>
                <a:cs typeface="Microsoft YaHei"/>
              </a:rPr>
              <a:t>公开网页采集与产业数据分析</a:t>
            </a:r>
          </a:p>
        </p:txBody>
      </p:sp>
      <p:sp>
        <p:nvSpPr>
          <p:cNvPr id="5" name="cover-goal">
            <a:extLst xmlns:a="http://schemas.openxmlformats.org/drawingml/2006/main">
              <a:ext uri="{FF2B5EF4-FFF2-40B4-BE49-F238E27FC236}">
                <a16:creationId xmlns:a16="http://schemas.microsoft.com/office/drawing/2014/main" id="{F418828B-3142-45F0-82BA-CEFC29F1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D9E5E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D9E5E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D9E5E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D9E5E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D9E5E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D9E5E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D9E5E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D9E5E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D9E5E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D9E5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D9E5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9E5EE"/>
                </a:solidFill>
                <a:latin typeface="Microsoft YaHei"/>
                <a:ea typeface="Microsoft YaHei"/>
                <a:cs typeface="Microsoft YaHei"/>
              </a:rPr>
              <a:t>目标：让研究数据有来源、处理过程可复核</a:t>
            </a:r>
          </a:p>
        </p:txBody>
      </p:sp>
    </p:spTree>
    <p:extLst>
      <p:ext uri="{BB962C8B-B14F-4D97-AF65-F5344CB8AC3E}">
        <p14:creationId xmlns:p14="http://schemas.microsoft.com/office/powerpoint/2010/main" val="10075039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4CE825E-E28D-4434-82EA-715ACBBA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技术栈与模块分工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ECE1A741-1619-498F-A4D8-1C52A839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8D2739-3BD7-45EF-A6C4-5D29BF5B2F8D}"/>
              </a:ext>
            </a:extLst>
          </p:cNvPr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2238375"/>
                <a:gridCol w="5686425"/>
              </a:tblGrid>
              <a:tr h="647700">
                <a:tc>
                  <a:txBody>
                    <a:bodyPr lIns="15240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技术模块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4DE"/>
                      </a:solidFill>
                    </a:lnL>
                    <a:lnR w="9525">
                      <a:solidFill>
                        <a:srgbClr val="C7D4DE"/>
                      </a:solidFill>
                    </a:lnR>
                    <a:lnT w="9525">
                      <a:solidFill>
                        <a:srgbClr val="C7D4DE"/>
                      </a:solidFill>
                    </a:lnT>
                    <a:lnB w="9525">
                      <a:solidFill>
                        <a:srgbClr val="C7D4DE"/>
                      </a:solidFill>
                    </a:lnB>
                    <a:solidFill>
                      <a:srgbClr val="102B46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运行位置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4DE"/>
                      </a:solidFill>
                    </a:lnR>
                    <a:lnT w="9525">
                      <a:solidFill>
                        <a:srgbClr val="C7D4DE"/>
                      </a:solidFill>
                    </a:lnT>
                    <a:lnB w="9525">
                      <a:solidFill>
                        <a:srgbClr val="C7D4DE"/>
                      </a:solidFill>
                    </a:lnB>
                    <a:solidFill>
                      <a:srgbClr val="102B46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主要职责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4DE"/>
                      </a:solidFill>
                    </a:lnR>
                    <a:lnT w="9525">
                      <a:solidFill>
                        <a:srgbClr val="C7D4DE"/>
                      </a:solidFill>
                    </a:lnT>
                    <a:lnB w="9525">
                      <a:solidFill>
                        <a:srgbClr val="C7D4DE"/>
                      </a:solidFill>
                    </a:lnB>
                    <a:solidFill>
                      <a:srgbClr val="102B46"/>
                    </a:solidFill>
                  </a:tcPr>
                </a:tc>
              </a:tr>
              <a:tr h="647700">
                <a:tc>
                  <a:txBody>
                    <a:bodyPr lIns="152400" tIns="76200" rIns="114300" bIns="76200"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React + TypeScript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4DE"/>
                      </a:solidFill>
                    </a:lnL>
                    <a:lnR w="9525">
                      <a:solidFill>
                        <a:srgbClr val="C7D4DE"/>
                      </a:solidFill>
                    </a:lnR>
                    <a:lnB w="9525">
                      <a:solidFill>
                        <a:srgbClr val="C7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浏览器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4DE"/>
                      </a:solidFill>
                    </a:lnR>
                    <a:lnB w="9525">
                      <a:solidFill>
                        <a:srgbClr val="C7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网址输入、阶段选择、图表与文件展示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4DE"/>
                      </a:solidFill>
                    </a:lnR>
                    <a:lnB w="9525">
                      <a:solidFill>
                        <a:srgbClr val="C7D4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152400" tIns="76200" rIns="114300" bIns="76200"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Next.js / Node.js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4DE"/>
                      </a:solidFill>
                    </a:lnL>
                    <a:lnR w="9525">
                      <a:solidFill>
                        <a:srgbClr val="C7D4DE"/>
                      </a:solidFill>
                    </a:lnR>
                    <a:lnB w="9525">
                      <a:solidFill>
                        <a:srgbClr val="C7D4DE"/>
                      </a:solidFill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网页服务进程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4DE"/>
                      </a:solidFill>
                    </a:lnR>
                    <a:lnB w="9525">
                      <a:solidFill>
                        <a:srgbClr val="C7D4DE"/>
                      </a:solidFill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提供页面与同源接口，转发后端请求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4DE"/>
                      </a:solidFill>
                    </a:lnR>
                    <a:lnB w="9525">
                      <a:solidFill>
                        <a:srgbClr val="C7D4DE"/>
                      </a:solidFill>
                    </a:lnB>
                    <a:solidFill>
                      <a:srgbClr val="F2F6F9"/>
                    </a:solidFill>
                  </a:tcPr>
                </a:tc>
              </a:tr>
              <a:tr h="647700">
                <a:tc>
                  <a:txBody>
                    <a:bodyPr lIns="152400" tIns="76200" rIns="114300" bIns="76200"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FastAPI / Uvicorn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4DE"/>
                      </a:solidFill>
                    </a:lnL>
                    <a:lnR w="9525">
                      <a:solidFill>
                        <a:srgbClr val="C7D4DE"/>
                      </a:solidFill>
                    </a:lnR>
                    <a:lnB w="9525">
                      <a:solidFill>
                        <a:srgbClr val="C7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 服务进程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4DE"/>
                      </a:solidFill>
                    </a:lnR>
                    <a:lnB w="9525">
                      <a:solidFill>
                        <a:srgbClr val="C7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校验参数、提交任务、查询状态和下载产物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4DE"/>
                      </a:solidFill>
                    </a:lnR>
                    <a:lnB w="9525">
                      <a:solidFill>
                        <a:srgbClr val="C7D4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152400" tIns="76200" rIns="114300" bIns="76200"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持久 Worker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4DE"/>
                      </a:solidFill>
                    </a:lnL>
                    <a:lnR w="9525">
                      <a:solidFill>
                        <a:srgbClr val="C7D4DE"/>
                      </a:solidFill>
                    </a:lnR>
                    <a:lnB w="9525">
                      <a:solidFill>
                        <a:srgbClr val="C7D4DE"/>
                      </a:solidFill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 Python 进程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4DE"/>
                      </a:solidFill>
                    </a:lnR>
                    <a:lnB w="9525">
                      <a:solidFill>
                        <a:srgbClr val="C7D4DE"/>
                      </a:solidFill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执行长任务，保存进度与阶段产物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4DE"/>
                      </a:solidFill>
                    </a:lnR>
                    <a:lnB w="9525">
                      <a:solidFill>
                        <a:srgbClr val="C7D4DE"/>
                      </a:solidFill>
                    </a:lnB>
                    <a:solidFill>
                      <a:srgbClr val="F2F6F9"/>
                    </a:solidFill>
                  </a:tcPr>
                </a:tc>
              </a:tr>
              <a:tr h="647700">
                <a:tc>
                  <a:txBody>
                    <a:bodyPr lIns="152400" tIns="76200" rIns="114300" bIns="76200"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 核心模块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4DE"/>
                      </a:solidFill>
                    </a:lnL>
                    <a:lnR w="9525">
                      <a:solidFill>
                        <a:srgbClr val="C7D4DE"/>
                      </a:solidFill>
                    </a:lnR>
                    <a:lnB w="9525">
                      <a:solidFill>
                        <a:srgbClr val="C7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隔离子进程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4DE"/>
                      </a:solidFill>
                    </a:lnR>
                    <a:lnB w="9525">
                      <a:solidFill>
                        <a:srgbClr val="C7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网页采集、数值抽取、清洗、训练与绘图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4DE"/>
                      </a:solidFill>
                    </a:lnR>
                    <a:lnB w="9525">
                      <a:solidFill>
                        <a:srgbClr val="C7D4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division">
            <a:extLst xmlns:a="http://schemas.openxmlformats.org/drawingml/2006/main">
              <a:ext uri="{FF2B5EF4-FFF2-40B4-BE49-F238E27FC236}">
                <a16:creationId xmlns:a16="http://schemas.microsoft.com/office/drawing/2014/main" id="{330A5ED4-38DB-4DDE-9B9F-7F67A012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91175"/>
            <a:ext cx="1095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rPr>
              <a:t>浏览器负责交互，服务层负责编排，计算模块负责实际处理</a:t>
            </a:r>
          </a:p>
        </p:txBody>
      </p:sp>
    </p:spTree>
    <p:extLst>
      <p:ext uri="{BB962C8B-B14F-4D97-AF65-F5344CB8AC3E}">
        <p14:creationId xmlns:p14="http://schemas.microsoft.com/office/powerpoint/2010/main" val="19195254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EE9D0-4FDC-4DA8-9D8C-6BD7068981F2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0334625" y="2762250"/>
            <a:ext cx="0" cy="1171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57A"/>
            </a:solidFill>
            <a:headEnd type="none" w="med" len="med"/>
            <a:tailEnd type="triangle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B1F46-1C26-4FE0-835D-EEBD4B6A68E0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629650" y="22479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99"/>
            </a:solidFill>
            <a:headEnd type="none" w="med" len="med"/>
            <a:tailEnd type="triangle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D6910-44E8-4529-8DD2-DFCC5EECA888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772150" y="22479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99"/>
            </a:solidFill>
            <a:headEnd type="none" w="med" len="med"/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621A9-F688-418E-BE8E-06DD61E47F54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914650" y="22479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99"/>
            </a:solidFill>
            <a:headEnd type="none" w="med" len="med"/>
            <a:tailEnd type="triangle" w="med" len="med"/>
          </a:ln>
        </p:spPr>
      </p:cxn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72F496C-86C3-4447-986B-5313DD22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一次研究请求的通信路径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8A5E79C6-4F54-4D86-884E-71A69F82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browser">
            <a:extLst xmlns:a="http://schemas.openxmlformats.org/drawingml/2006/main">
              <a:ext uri="{FF2B5EF4-FFF2-40B4-BE49-F238E27FC236}">
                <a16:creationId xmlns:a16="http://schemas.microsoft.com/office/drawing/2014/main" id="{4BCBEBD8-CF11-4915-BF52-99C7A625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305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/>
          </a:solidFill>
          <a:ln xmlns:a="http://schemas.openxmlformats.org/drawingml/2006/main" w="9525">
            <a:solidFill>
              <a:srgbClr val="C7D4DE"/>
            </a:solidFill>
          </a:ln>
        </p:spPr>
      </p:sp>
      <p:sp>
        <p:nvSpPr>
          <p:cNvPr id="9" name="browser-title">
            <a:extLst xmlns:a="http://schemas.openxmlformats.org/drawingml/2006/main">
              <a:ext uri="{FF2B5EF4-FFF2-40B4-BE49-F238E27FC236}">
                <a16:creationId xmlns:a16="http://schemas.microsoft.com/office/drawing/2014/main" id="{B9AFED3B-E0B6-4DE9-AC8B-14C48586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rPr>
              <a:t>React 页面</a:t>
            </a:r>
          </a:p>
        </p:txBody>
      </p:sp>
      <p:sp>
        <p:nvSpPr>
          <p:cNvPr id="10" name="browser-sub">
            <a:extLst xmlns:a="http://schemas.openxmlformats.org/drawingml/2006/main">
              <a:ext uri="{FF2B5EF4-FFF2-40B4-BE49-F238E27FC236}">
                <a16:creationId xmlns:a16="http://schemas.microsoft.com/office/drawing/2014/main" id="{786CC396-EB58-47C8-8316-6AE8EA05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0275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网址清单和研究需求</a:t>
            </a:r>
          </a:p>
        </p:txBody>
      </p:sp>
      <p:sp>
        <p:nvSpPr>
          <p:cNvPr id="11" name="next">
            <a:extLst xmlns:a="http://schemas.openxmlformats.org/drawingml/2006/main">
              <a:ext uri="{FF2B5EF4-FFF2-40B4-BE49-F238E27FC236}">
                <a16:creationId xmlns:a16="http://schemas.microsoft.com/office/drawing/2014/main" id="{EF6F372E-82EB-423C-BE9E-10115812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33550"/>
            <a:ext cx="2305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/>
          </a:solidFill>
          <a:ln xmlns:a="http://schemas.openxmlformats.org/drawingml/2006/main" w="9525">
            <a:solidFill>
              <a:srgbClr val="C7D4DE"/>
            </a:solidFill>
          </a:ln>
        </p:spPr>
      </p:sp>
      <p:sp>
        <p:nvSpPr>
          <p:cNvPr id="12" name="next-title">
            <a:extLst xmlns:a="http://schemas.openxmlformats.org/drawingml/2006/main">
              <a:ext uri="{FF2B5EF4-FFF2-40B4-BE49-F238E27FC236}">
                <a16:creationId xmlns:a16="http://schemas.microsoft.com/office/drawing/2014/main" id="{70835E57-A29C-4690-BDC1-DFAD03BD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478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rPr>
              <a:t>Next.js</a:t>
            </a:r>
          </a:p>
        </p:txBody>
      </p:sp>
      <p:sp>
        <p:nvSpPr>
          <p:cNvPr id="13" name="next-sub">
            <a:extLst xmlns:a="http://schemas.openxmlformats.org/drawingml/2006/main">
              <a:ext uri="{FF2B5EF4-FFF2-40B4-BE49-F238E27FC236}">
                <a16:creationId xmlns:a16="http://schemas.microsoft.com/office/drawing/2014/main" id="{B36B7661-8233-4D59-9E18-483D8C5A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00275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同源请求转发</a:t>
            </a:r>
          </a:p>
        </p:txBody>
      </p:sp>
      <p:sp>
        <p:nvSpPr>
          <p:cNvPr id="14" name="api">
            <a:extLst xmlns:a="http://schemas.openxmlformats.org/drawingml/2006/main">
              <a:ext uri="{FF2B5EF4-FFF2-40B4-BE49-F238E27FC236}">
                <a16:creationId xmlns:a16="http://schemas.microsoft.com/office/drawing/2014/main" id="{F275BADD-CDD3-4FC3-AC0E-C5AA7EF4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33550"/>
            <a:ext cx="2305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/>
          </a:solidFill>
          <a:ln xmlns:a="http://schemas.openxmlformats.org/drawingml/2006/main" w="9525">
            <a:solidFill>
              <a:srgbClr val="C7D4DE"/>
            </a:solidFill>
          </a:ln>
        </p:spPr>
      </p:sp>
      <p:sp>
        <p:nvSpPr>
          <p:cNvPr id="15" name="api-title">
            <a:extLst xmlns:a="http://schemas.openxmlformats.org/drawingml/2006/main">
              <a:ext uri="{FF2B5EF4-FFF2-40B4-BE49-F238E27FC236}">
                <a16:creationId xmlns:a16="http://schemas.microsoft.com/office/drawing/2014/main" id="{0E184861-1477-4102-B0A3-8A87595C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478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rPr>
              <a:t>FastAPI</a:t>
            </a:r>
          </a:p>
        </p:txBody>
      </p:sp>
      <p:sp>
        <p:nvSpPr>
          <p:cNvPr id="16" name="api-sub">
            <a:extLst xmlns:a="http://schemas.openxmlformats.org/drawingml/2006/main">
              <a:ext uri="{FF2B5EF4-FFF2-40B4-BE49-F238E27FC236}">
                <a16:creationId xmlns:a16="http://schemas.microsoft.com/office/drawing/2014/main" id="{4A136949-3FDA-43F6-83FF-F1537BFF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00275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提交任务并返回编号</a:t>
            </a:r>
          </a:p>
        </p:txBody>
      </p:sp>
      <p:sp>
        <p:nvSpPr>
          <p:cNvPr id="17" name="worker">
            <a:extLst xmlns:a="http://schemas.openxmlformats.org/drawingml/2006/main">
              <a:ext uri="{FF2B5EF4-FFF2-40B4-BE49-F238E27FC236}">
                <a16:creationId xmlns:a16="http://schemas.microsoft.com/office/drawing/2014/main" id="{BB5FF81C-8EBC-439D-94DA-27DBFE1F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33550"/>
            <a:ext cx="2305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/>
          </a:solidFill>
          <a:ln xmlns:a="http://schemas.openxmlformats.org/drawingml/2006/main" w="9525">
            <a:solidFill>
              <a:srgbClr val="C7D4DE"/>
            </a:solidFill>
          </a:ln>
        </p:spPr>
      </p:sp>
      <p:sp>
        <p:nvSpPr>
          <p:cNvPr id="18" name="worker-title">
            <a:extLst xmlns:a="http://schemas.openxmlformats.org/drawingml/2006/main">
              <a:ext uri="{FF2B5EF4-FFF2-40B4-BE49-F238E27FC236}">
                <a16:creationId xmlns:a16="http://schemas.microsoft.com/office/drawing/2014/main" id="{5F5A01D2-31F8-4C82-9477-56640E51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478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rPr>
              <a:t>Worker</a:t>
            </a:r>
          </a:p>
        </p:txBody>
      </p:sp>
      <p:sp>
        <p:nvSpPr>
          <p:cNvPr id="19" name="worker-sub">
            <a:extLst xmlns:a="http://schemas.openxmlformats.org/drawingml/2006/main">
              <a:ext uri="{FF2B5EF4-FFF2-40B4-BE49-F238E27FC236}">
                <a16:creationId xmlns:a16="http://schemas.microsoft.com/office/drawing/2014/main" id="{86F019EA-48B9-4C6B-9AE5-469DD1CD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00275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领取并执行任务</a:t>
            </a:r>
          </a:p>
        </p:txBody>
      </p:sp>
      <p:sp>
        <p:nvSpPr>
          <p:cNvPr id="20" name="protocol-1">
            <a:extLst xmlns:a="http://schemas.openxmlformats.org/drawingml/2006/main">
              <a:ext uri="{FF2B5EF4-FFF2-40B4-BE49-F238E27FC236}">
                <a16:creationId xmlns:a16="http://schemas.microsoft.com/office/drawing/2014/main" id="{BB25803A-0369-4CA2-8693-B19CE2EB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2954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HTTP + JSON</a:t>
            </a:r>
          </a:p>
        </p:txBody>
      </p:sp>
      <p:sp>
        <p:nvSpPr>
          <p:cNvPr id="21" name="protocol-2">
            <a:extLst xmlns:a="http://schemas.openxmlformats.org/drawingml/2006/main">
              <a:ext uri="{FF2B5EF4-FFF2-40B4-BE49-F238E27FC236}">
                <a16:creationId xmlns:a16="http://schemas.microsoft.com/office/drawing/2014/main" id="{5E55D42D-1C43-43A8-86D8-9683006A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2954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HTTP + JSON</a:t>
            </a:r>
          </a:p>
        </p:txBody>
      </p:sp>
      <p:sp>
        <p:nvSpPr>
          <p:cNvPr id="22" name="queue">
            <a:extLst xmlns:a="http://schemas.openxmlformats.org/drawingml/2006/main">
              <a:ext uri="{FF2B5EF4-FFF2-40B4-BE49-F238E27FC236}">
                <a16:creationId xmlns:a16="http://schemas.microsoft.com/office/drawing/2014/main" id="{077AD42F-5EA1-41E6-8869-CB620C25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2954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持久队列</a:t>
            </a:r>
          </a:p>
        </p:txBody>
      </p:sp>
      <p:sp>
        <p:nvSpPr>
          <p:cNvPr id="23" name="core">
            <a:extLst xmlns:a="http://schemas.openxmlformats.org/drawingml/2006/main">
              <a:ext uri="{FF2B5EF4-FFF2-40B4-BE49-F238E27FC236}">
                <a16:creationId xmlns:a16="http://schemas.microsoft.com/office/drawing/2014/main" id="{57AF3AE4-9E38-4AB2-B068-0BFFC1A0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33825"/>
            <a:ext cx="2305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/>
          </a:solidFill>
          <a:ln xmlns:a="http://schemas.openxmlformats.org/drawingml/2006/main" w="9525">
            <a:solidFill>
              <a:srgbClr val="C7D4DE"/>
            </a:solidFill>
          </a:ln>
        </p:spPr>
      </p:sp>
      <p:sp>
        <p:nvSpPr>
          <p:cNvPr id="24" name="core-title">
            <a:extLst xmlns:a="http://schemas.openxmlformats.org/drawingml/2006/main">
              <a:ext uri="{FF2B5EF4-FFF2-40B4-BE49-F238E27FC236}">
                <a16:creationId xmlns:a16="http://schemas.microsoft.com/office/drawing/2014/main" id="{12D98337-99AD-4B7B-B551-659B43FB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481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rPr>
              <a:t>Python 核心模块</a:t>
            </a:r>
          </a:p>
        </p:txBody>
      </p:sp>
      <p:sp>
        <p:nvSpPr>
          <p:cNvPr id="25" name="core-sub">
            <a:extLst xmlns:a="http://schemas.openxmlformats.org/drawingml/2006/main">
              <a:ext uri="{FF2B5EF4-FFF2-40B4-BE49-F238E27FC236}">
                <a16:creationId xmlns:a16="http://schemas.microsoft.com/office/drawing/2014/main" id="{F9CF47EA-82BD-4C04-A2C9-7F2F9A92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0055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采集 / 抽取 / 建模</a:t>
            </a:r>
          </a:p>
        </p:txBody>
      </p:sp>
      <p:sp>
        <p:nvSpPr>
          <p:cNvPr id="26" name="isolation">
            <a:extLst xmlns:a="http://schemas.openxmlformats.org/drawingml/2006/main">
              <a:ext uri="{FF2B5EF4-FFF2-40B4-BE49-F238E27FC236}">
                <a16:creationId xmlns:a16="http://schemas.microsoft.com/office/drawing/2014/main" id="{438FCD87-0A1E-43D5-8378-590431AA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029075"/>
            <a:ext cx="21812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rPr>
              <a:t>同一 Python 环境</a:t>
            </a:r>
          </a:p>
          <a:p xmlns:a="http://schemas.openxmlformats.org/drawingml/2006/main">
            <a:pPr algn="l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rPr>
              <a:t>隔离子进程执行</a:t>
            </a:r>
          </a:p>
        </p:txBody>
      </p:sp>
      <p:sp>
        <p:nvSpPr>
          <p:cNvPr id="27" name="poll">
            <a:extLst xmlns:a="http://schemas.openxmlformats.org/drawingml/2006/main">
              <a:ext uri="{FF2B5EF4-FFF2-40B4-BE49-F238E27FC236}">
                <a16:creationId xmlns:a16="http://schemas.microsoft.com/office/drawing/2014/main" id="{9FDFD55F-E7D8-4948-9F33-21575123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5334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rPr>
              <a:t>页面按任务编号轮询进度，完成后读取结果与下载地址</a:t>
            </a:r>
          </a:p>
        </p:txBody>
      </p:sp>
      <p:sp>
        <p:nvSpPr>
          <p:cNvPr id="28" name="secret">
            <a:extLst xmlns:a="http://schemas.openxmlformats.org/drawingml/2006/main">
              <a:ext uri="{FF2B5EF4-FFF2-40B4-BE49-F238E27FC236}">
                <a16:creationId xmlns:a16="http://schemas.microsoft.com/office/drawing/2014/main" id="{41391E55-7CCD-4E51-8CC2-B23A2BDCE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服务令牌留在 Node 端，LLM 密钥留在 Python 服务端</a:t>
            </a:r>
          </a:p>
        </p:txBody>
      </p:sp>
      <p:sp>
        <p:nvSpPr>
          <p:cNvPr id="29" name="windows">
            <a:extLst xmlns:a="http://schemas.openxmlformats.org/drawingml/2006/main">
              <a:ext uri="{FF2B5EF4-FFF2-40B4-BE49-F238E27FC236}">
                <a16:creationId xmlns:a16="http://schemas.microsoft.com/office/drawing/2014/main" id="{CC689B1A-D8DC-42B6-B30B-734E4FF1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当前 Windows 使用 SQLite 持久队列</a:t>
            </a:r>
          </a:p>
        </p:txBody>
      </p:sp>
    </p:spTree>
    <p:extLst>
      <p:ext uri="{BB962C8B-B14F-4D97-AF65-F5344CB8AC3E}">
        <p14:creationId xmlns:p14="http://schemas.microsoft.com/office/powerpoint/2010/main" val="701999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9B0E3-9766-4EA9-A933-3621A17A45D1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 flipH="1">
            <a:off x="9910763" y="2733675"/>
            <a:ext cx="109538" cy="1562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A6519"/>
            </a:solidFill>
            <a:headEnd type="none" w="med" len="med"/>
            <a:tailEnd type="triangle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52072-D9C1-40CA-979D-0087DA70779D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6043613" y="2733675"/>
            <a:ext cx="3976688" cy="1562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76B99"/>
            </a:solidFill>
            <a:headEnd type="none" w="med" len="med"/>
            <a:tailEnd type="triangle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52C04-6F3C-4153-AFC3-1CC451AA1184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429500" y="21907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99"/>
            </a:solidFill>
            <a:headEnd type="none" w="med" len="med"/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5F5F8-47C9-46D1-A563-653D4D696892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181350" y="2190750"/>
            <a:ext cx="1104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99"/>
            </a:solidFill>
            <a:headEnd type="none" w="med" len="med"/>
            <a:tailEnd type="triangle" w="med" len="med"/>
          </a:ln>
        </p:spPr>
      </p:cxn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0550728-CA7C-4D3B-9EA3-717F8C76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网页采集与采集后的分支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878DA8FA-C8B9-49A9-ABB7-F6A5D140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crawl">
            <a:extLst xmlns:a="http://schemas.openxmlformats.org/drawingml/2006/main">
              <a:ext uri="{FF2B5EF4-FFF2-40B4-BE49-F238E27FC236}">
                <a16:creationId xmlns:a16="http://schemas.microsoft.com/office/drawing/2014/main" id="{4218430D-20BD-4E48-B787-0B7C3016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25717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/>
          </a:solidFill>
          <a:ln xmlns:a="http://schemas.openxmlformats.org/drawingml/2006/main" w="9525">
            <a:solidFill>
              <a:srgbClr val="C7D4DE"/>
            </a:solidFill>
          </a:ln>
        </p:spPr>
      </p:sp>
      <p:sp>
        <p:nvSpPr>
          <p:cNvPr id="9" name="crawl-title">
            <a:extLst xmlns:a="http://schemas.openxmlformats.org/drawingml/2006/main">
              <a:ext uri="{FF2B5EF4-FFF2-40B4-BE49-F238E27FC236}">
                <a16:creationId xmlns:a16="http://schemas.microsoft.com/office/drawing/2014/main" id="{69998DDF-1568-446C-A485-4CD48B79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rPr>
              <a:t>Python 爬虫</a:t>
            </a:r>
          </a:p>
        </p:txBody>
      </p:sp>
      <p:sp>
        <p:nvSpPr>
          <p:cNvPr id="10" name="crawl-sub">
            <a:extLst xmlns:a="http://schemas.openxmlformats.org/drawingml/2006/main">
              <a:ext uri="{FF2B5EF4-FFF2-40B4-BE49-F238E27FC236}">
                <a16:creationId xmlns:a16="http://schemas.microsoft.com/office/drawing/2014/main" id="{29F02FFC-F01A-434B-8033-C208430E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2343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公开网址清单</a:t>
            </a:r>
          </a:p>
        </p:txBody>
      </p:sp>
      <p:sp>
        <p:nvSpPr>
          <p:cNvPr id="11" name="source">
            <a:extLst xmlns:a="http://schemas.openxmlformats.org/drawingml/2006/main">
              <a:ext uri="{FF2B5EF4-FFF2-40B4-BE49-F238E27FC236}">
                <a16:creationId xmlns:a16="http://schemas.microsoft.com/office/drawing/2014/main" id="{5DCBB953-3A21-442B-8FC6-0D46A5F8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47825"/>
            <a:ext cx="31432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/>
          </a:solidFill>
          <a:ln xmlns:a="http://schemas.openxmlformats.org/drawingml/2006/main" w="9525">
            <a:solidFill>
              <a:srgbClr val="C7D4DE"/>
            </a:solidFill>
          </a:ln>
        </p:spPr>
      </p:sp>
      <p:sp>
        <p:nvSpPr>
          <p:cNvPr id="12" name="source-title">
            <a:extLst xmlns:a="http://schemas.openxmlformats.org/drawingml/2006/main">
              <a:ext uri="{FF2B5EF4-FFF2-40B4-BE49-F238E27FC236}">
                <a16:creationId xmlns:a16="http://schemas.microsoft.com/office/drawing/2014/main" id="{83B6A675-BFD1-44B1-B42B-E5A87D5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62125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rPr>
              <a:t>采集材料</a:t>
            </a:r>
          </a:p>
        </p:txBody>
      </p:sp>
      <p:sp>
        <p:nvSpPr>
          <p:cNvPr id="13" name="source-sub">
            <a:extLst xmlns:a="http://schemas.openxmlformats.org/drawingml/2006/main">
              <a:ext uri="{FF2B5EF4-FFF2-40B4-BE49-F238E27FC236}">
                <a16:creationId xmlns:a16="http://schemas.microsoft.com/office/drawing/2014/main" id="{8A17AF9F-36B6-4718-B61B-4336F4B7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1455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原件、正文、来源记录</a:t>
            </a:r>
          </a:p>
        </p:txBody>
      </p:sp>
      <p:sp>
        <p:nvSpPr>
          <p:cNvPr id="14" name="choice">
            <a:extLst xmlns:a="http://schemas.openxmlformats.org/drawingml/2006/main">
              <a:ext uri="{FF2B5EF4-FFF2-40B4-BE49-F238E27FC236}">
                <a16:creationId xmlns:a16="http://schemas.microsoft.com/office/drawing/2014/main" id="{ADEDCCB8-4060-4B06-9F07-56D8331C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47825"/>
            <a:ext cx="28956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/>
          </a:solidFill>
          <a:ln xmlns:a="http://schemas.openxmlformats.org/drawingml/2006/main" w="9525">
            <a:solidFill>
              <a:srgbClr val="C7D4DE"/>
            </a:solidFill>
          </a:ln>
        </p:spPr>
      </p:sp>
      <p:sp>
        <p:nvSpPr>
          <p:cNvPr id="15" name="choice-title">
            <a:extLst xmlns:a="http://schemas.openxmlformats.org/drawingml/2006/main">
              <a:ext uri="{FF2B5EF4-FFF2-40B4-BE49-F238E27FC236}">
                <a16:creationId xmlns:a16="http://schemas.microsoft.com/office/drawing/2014/main" id="{4A620F55-6FF5-48F1-AB4C-9894BB55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62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rPr>
              <a:t>用户选择</a:t>
            </a:r>
          </a:p>
        </p:txBody>
      </p:sp>
      <p:sp>
        <p:nvSpPr>
          <p:cNvPr id="16" name="choice-sub">
            <a:extLst xmlns:a="http://schemas.openxmlformats.org/drawingml/2006/main">
              <a:ext uri="{FF2B5EF4-FFF2-40B4-BE49-F238E27FC236}">
                <a16:creationId xmlns:a16="http://schemas.microsoft.com/office/drawing/2014/main" id="{AC18C059-E49C-4974-98AD-7EE2ACCD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145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采集完成后再选择</a:t>
            </a:r>
          </a:p>
        </p:txBody>
      </p:sp>
      <p:sp>
        <p:nvSpPr>
          <p:cNvPr id="17" name="checks">
            <a:extLst xmlns:a="http://schemas.openxmlformats.org/drawingml/2006/main">
              <a:ext uri="{FF2B5EF4-FFF2-40B4-BE49-F238E27FC236}">
                <a16:creationId xmlns:a16="http://schemas.microsoft.com/office/drawing/2014/main" id="{4A4889C4-E628-4399-8BF2-FB722D5B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3105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站点策略、robots 和访问限制</a:t>
            </a:r>
          </a:p>
          <a:p xmlns:a="http://schemas.openxmlformats.org/drawingml/2006/main">
            <a: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失败逐条显示原因</a:t>
            </a:r>
          </a:p>
        </p:txBody>
      </p:sp>
      <p:sp>
        <p:nvSpPr>
          <p:cNvPr id="18" name="auto">
            <a:extLst xmlns:a="http://schemas.openxmlformats.org/drawingml/2006/main">
              <a:ext uri="{FF2B5EF4-FFF2-40B4-BE49-F238E27FC236}">
                <a16:creationId xmlns:a16="http://schemas.microsoft.com/office/drawing/2014/main" id="{A36BDE56-3005-4133-AAE3-1BB0C016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295775"/>
            <a:ext cx="31527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/>
          </a:solidFill>
          <a:ln xmlns:a="http://schemas.openxmlformats.org/drawingml/2006/main" w="9525">
            <a:solidFill>
              <a:srgbClr val="C7D4DE"/>
            </a:solidFill>
          </a:ln>
        </p:spPr>
      </p:sp>
      <p:sp>
        <p:nvSpPr>
          <p:cNvPr id="19" name="auto-title">
            <a:extLst xmlns:a="http://schemas.openxmlformats.org/drawingml/2006/main">
              <a:ext uri="{FF2B5EF4-FFF2-40B4-BE49-F238E27FC236}">
                <a16:creationId xmlns:a16="http://schemas.microsoft.com/office/drawing/2014/main" id="{836B40E1-5E3C-4315-A54F-F8E6EEF3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410075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rPr>
              <a:t>原自动流程</a:t>
            </a:r>
          </a:p>
        </p:txBody>
      </p:sp>
      <p:sp>
        <p:nvSpPr>
          <p:cNvPr id="20" name="auto-sub">
            <a:extLst xmlns:a="http://schemas.openxmlformats.org/drawingml/2006/main">
              <a:ext uri="{FF2B5EF4-FFF2-40B4-BE49-F238E27FC236}">
                <a16:creationId xmlns:a16="http://schemas.microsoft.com/office/drawing/2014/main" id="{BCED31FC-BE54-485C-8894-076A385B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762500"/>
            <a:ext cx="2924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继续匹配、清洗和建模</a:t>
            </a:r>
          </a:p>
        </p:txBody>
      </p:sp>
      <p:sp>
        <p:nvSpPr>
          <p:cNvPr id="21" name="textbook">
            <a:extLst xmlns:a="http://schemas.openxmlformats.org/drawingml/2006/main">
              <a:ext uri="{FF2B5EF4-FFF2-40B4-BE49-F238E27FC236}">
                <a16:creationId xmlns:a16="http://schemas.microsoft.com/office/drawing/2014/main" id="{E3B0BFEF-96AC-4826-AA1D-21BB4046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95775"/>
            <a:ext cx="31527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/>
          </a:solidFill>
          <a:ln xmlns:a="http://schemas.openxmlformats.org/drawingml/2006/main" w="9525">
            <a:solidFill>
              <a:srgbClr val="C7D4DE"/>
            </a:solidFill>
          </a:ln>
        </p:spPr>
      </p:sp>
      <p:sp>
        <p:nvSpPr>
          <p:cNvPr id="22" name="textbook-title">
            <a:extLst xmlns:a="http://schemas.openxmlformats.org/drawingml/2006/main">
              <a:ext uri="{FF2B5EF4-FFF2-40B4-BE49-F238E27FC236}">
                <a16:creationId xmlns:a16="http://schemas.microsoft.com/office/drawing/2014/main" id="{5D0EEA37-8FC2-4F59-88A5-A2BABDC0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410075"/>
            <a:ext cx="292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9A651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9A651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9A651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9A651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9A651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9A651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9A651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9A651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9A651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9A651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9A65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9A6519"/>
                </a:solidFill>
                <a:latin typeface="Microsoft YaHei"/>
                <a:ea typeface="Microsoft YaHei"/>
                <a:cs typeface="Microsoft YaHei"/>
              </a:rPr>
              <a:t>教材分支</a:t>
            </a:r>
          </a:p>
        </p:txBody>
      </p:sp>
      <p:sp>
        <p:nvSpPr>
          <p:cNvPr id="23" name="textbook-sub">
            <a:extLst xmlns:a="http://schemas.openxmlformats.org/drawingml/2006/main">
              <a:ext uri="{FF2B5EF4-FFF2-40B4-BE49-F238E27FC236}">
                <a16:creationId xmlns:a16="http://schemas.microsoft.com/office/drawing/2014/main" id="{683936B8-CCC8-4CE7-9641-22774C29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762500"/>
            <a:ext cx="2924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保存材料，当前到此停止</a:t>
            </a:r>
          </a:p>
        </p:txBody>
      </p:sp>
      <p:sp>
        <p:nvSpPr>
          <p:cNvPr id="24" name="provenance">
            <a:extLst xmlns:a="http://schemas.openxmlformats.org/drawingml/2006/main">
              <a:ext uri="{FF2B5EF4-FFF2-40B4-BE49-F238E27FC236}">
                <a16:creationId xmlns:a16="http://schemas.microsoft.com/office/drawing/2014/main" id="{140EE8F5-4156-4BEE-B02C-7091616D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32861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rPr>
              <a:t>保留网址、时间、文件哈希</a:t>
            </a:r>
          </a:p>
          <a:p xmlns:a="http://schemas.openxmlformats.org/drawingml/2006/main">
            <a:pPr algn="l">
              <a:def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rPr>
              <a:t>材料可打包为 sources.zip</a:t>
            </a:r>
          </a:p>
        </p:txBody>
      </p:sp>
      <p:sp>
        <p:nvSpPr>
          <p:cNvPr id="25" name="pause">
            <a:extLst xmlns:a="http://schemas.openxmlformats.org/drawingml/2006/main">
              <a:ext uri="{FF2B5EF4-FFF2-40B4-BE49-F238E27FC236}">
                <a16:creationId xmlns:a16="http://schemas.microsoft.com/office/drawing/2014/main" id="{07EF05D8-4E02-496C-85B8-6019A6B6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953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教材分支的网页结构定制解析，待查看材料后确定</a:t>
            </a:r>
          </a:p>
        </p:txBody>
      </p:sp>
    </p:spTree>
    <p:extLst>
      <p:ext uri="{BB962C8B-B14F-4D97-AF65-F5344CB8AC3E}">
        <p14:creationId xmlns:p14="http://schemas.microsoft.com/office/powerpoint/2010/main" val="594096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55FBCC1-20E4-4FA4-B5F5-4780E843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自动整理：原文如何变成可比 CSV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16939EDF-477F-4DBB-B446-56FC3371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A3F173-C4B5-4F9B-A334-C11F8F763153}"/>
              </a:ext>
            </a:extLst>
          </p:cNvPr>
          <p:cNvGraphicFramePr/>
          <p:nvPr/>
        </p:nvGraphicFramePr>
        <p:xfrm>
          <a:off xmlns:a="http://schemas.openxmlformats.org/drawingml/2006/main" x="609600" y="1419225"/>
          <a:ext xmlns:a="http://schemas.openxmlformats.org/drawingml/2006/main" cx="109728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000500"/>
                <a:gridCol w="4686300"/>
              </a:tblGrid>
              <a:tr h="788670">
                <a:tc>
                  <a:txBody>
                    <a:bodyPr lIns="15240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处理环节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4DE"/>
                      </a:solidFill>
                    </a:lnL>
                    <a:lnR w="9525">
                      <a:solidFill>
                        <a:srgbClr val="C7D4DE"/>
                      </a:solidFill>
                    </a:lnR>
                    <a:lnT w="9525">
                      <a:solidFill>
                        <a:srgbClr val="C7D4DE"/>
                      </a:solidFill>
                    </a:lnT>
                    <a:lnB w="9525">
                      <a:solidFill>
                        <a:srgbClr val="C7D4DE"/>
                      </a:solidFill>
                    </a:lnB>
                    <a:solidFill>
                      <a:srgbClr val="102B46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技术与模型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4DE"/>
                      </a:solidFill>
                    </a:lnR>
                    <a:lnT w="9525">
                      <a:solidFill>
                        <a:srgbClr val="C7D4DE"/>
                      </a:solidFill>
                    </a:lnT>
                    <a:lnB w="9525">
                      <a:solidFill>
                        <a:srgbClr val="C7D4DE"/>
                      </a:solidFill>
                    </a:lnB>
                    <a:solidFill>
                      <a:srgbClr val="102B46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交给下一环节的内容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4DE"/>
                      </a:solidFill>
                    </a:lnR>
                    <a:lnT w="9525">
                      <a:solidFill>
                        <a:srgbClr val="C7D4DE"/>
                      </a:solidFill>
                    </a:lnT>
                    <a:lnB w="9525">
                      <a:solidFill>
                        <a:srgbClr val="C7D4DE"/>
                      </a:solidFill>
                    </a:lnB>
                    <a:solidFill>
                      <a:srgbClr val="102B46"/>
                    </a:solidFill>
                  </a:tcPr>
                </a:tc>
              </a:tr>
              <a:tr h="788670">
                <a:tc>
                  <a:txBody>
                    <a:bodyPr lIns="152400" tIns="76200" rIns="114300" bIns="76200"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相关信息召回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4DE"/>
                      </a:solidFill>
                    </a:lnL>
                    <a:lnR w="9525">
                      <a:solidFill>
                        <a:srgbClr val="C7D4DE"/>
                      </a:solidFill>
                    </a:lnR>
                    <a:lnB w="9525">
                      <a:solidFill>
                        <a:srgbClr val="C7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BGE-small-zh-v1.5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INT8 ONNX + 关键词/数值补查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4DE"/>
                      </a:solidFill>
                    </a:lnR>
                    <a:lnB w="9525">
                      <a:solidFill>
                        <a:srgbClr val="C7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与需求相关的原文片段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4DE"/>
                      </a:solidFill>
                    </a:lnR>
                    <a:lnB w="9525">
                      <a:solidFill>
                        <a:srgbClr val="C7D4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8670">
                <a:tc>
                  <a:txBody>
                    <a:bodyPr lIns="152400" tIns="76200" rIns="114300" bIns="76200"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清洗前保存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4DE"/>
                      </a:solidFill>
                    </a:lnL>
                    <a:lnR w="9525">
                      <a:solidFill>
                        <a:srgbClr val="C7D4DE"/>
                      </a:solidFill>
                    </a:lnR>
                    <a:lnB w="9525">
                      <a:solidFill>
                        <a:srgbClr val="C7D4DE"/>
                      </a:solidFill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CSV + 来源信息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4DE"/>
                      </a:solidFill>
                    </a:lnR>
                    <a:lnB w="9525">
                      <a:solidFill>
                        <a:srgbClr val="C7D4DE"/>
                      </a:solidFill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原句、数值候选、网址和原文位置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4DE"/>
                      </a:solidFill>
                    </a:lnR>
                    <a:lnB w="9525">
                      <a:solidFill>
                        <a:srgbClr val="C7D4DE"/>
                      </a:solidFill>
                    </a:lnB>
                    <a:solidFill>
                      <a:srgbClr val="F2F6F9"/>
                    </a:solidFill>
                  </a:tcPr>
                </a:tc>
              </a:tr>
              <a:tr h="788670">
                <a:tc>
                  <a:txBody>
                    <a:bodyPr lIns="152400" tIns="76200" rIns="114300" bIns="76200"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结构化清洗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4DE"/>
                      </a:solidFill>
                    </a:lnL>
                    <a:lnR w="9525">
                      <a:solidFill>
                        <a:srgbClr val="C7D4DE"/>
                      </a:solidFill>
                    </a:lnR>
                    <a:lnB w="9525">
                      <a:solidFill>
                        <a:srgbClr val="C7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LLM API，无会话记忆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本地校验引句、数字与单位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4DE"/>
                      </a:solidFill>
                    </a:lnR>
                    <a:lnB w="9525">
                      <a:solidFill>
                        <a:srgbClr val="C7D4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有原文依据的字段，或待复核记录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4DE"/>
                      </a:solidFill>
                    </a:lnR>
                    <a:lnB w="9525">
                      <a:solidFill>
                        <a:srgbClr val="C7D4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8670">
                <a:tc>
                  <a:txBody>
                    <a:bodyPr lIns="152400" tIns="76200" rIns="114300" bIns="76200"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口径整理与诊断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7D4DE"/>
                      </a:solidFill>
                    </a:lnL>
                    <a:lnR w="9525">
                      <a:solidFill>
                        <a:srgbClr val="C7D4DE"/>
                      </a:solidFill>
                    </a:lnR>
                    <a:lnB w="9525">
                      <a:solidFill>
                        <a:srgbClr val="C7D4DE"/>
                      </a:solidFill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Pandas + 本地规则</a:t>
                      </a:r>
                    </a:p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缺失检查、年度与单位核对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4DE"/>
                      </a:solidFill>
                    </a:lnR>
                    <a:lnB w="9525">
                      <a:solidFill>
                        <a:srgbClr val="C7D4DE"/>
                      </a:solidFill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 lIns="152400" tIns="76200" rIns="114300" bIns="76200"/>
                    <a:lstStyle/>
                    <a:p>
                      <a:r>
                        <a:rPr sz="1725" b="0">
                          <a:solidFill>
                            <a:srgbClr val="17324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同主体、地域、指标和单位的年度序列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7D4DE"/>
                      </a:solidFill>
                    </a:lnR>
                    <a:lnB w="9525">
                      <a:solidFill>
                        <a:srgbClr val="C7D4DE"/>
                      </a:solidFill>
                    </a:lnB>
                    <a:solidFill>
                      <a:srgbClr val="F2F6F9"/>
                    </a:solidFill>
                  </a:tcPr>
                </a:tc>
              </a:tr>
            </a:tbl>
          </a:graphicData>
        </a:graphic>
      </p:graphicFrame>
      <p:sp>
        <p:nvSpPr>
          <p:cNvPr id="5" name="compute">
            <a:extLst xmlns:a="http://schemas.openxmlformats.org/drawingml/2006/main">
              <a:ext uri="{FF2B5EF4-FFF2-40B4-BE49-F238E27FC236}">
                <a16:creationId xmlns:a16="http://schemas.microsoft.com/office/drawing/2014/main" id="{14EF9034-95A4-4F43-8B91-EAEAF864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rPr>
              <a:t>BGE 在本地运行，LLM 清洗通过 API 调用</a:t>
            </a:r>
          </a:p>
        </p:txBody>
      </p:sp>
    </p:spTree>
    <p:extLst>
      <p:ext uri="{BB962C8B-B14F-4D97-AF65-F5344CB8AC3E}">
        <p14:creationId xmlns:p14="http://schemas.microsoft.com/office/powerpoint/2010/main" val="11471596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2AA9C-8A82-43F3-9C35-F5990840CE9A}"/>
              </a:ext>
            </a:extLst>
          </p:cNvPr>
          <p:cNvCxnSpPr>
            <a:stCxn xmlns:a="http://schemas.openxmlformats.org/drawingml/2006/main" id="26" idx="0"/>
            <a:endCxn xmlns:a="http://schemas.openxmlformats.org/drawingml/2006/main" id="17" idx="2"/>
          </p:cNvCxnSpPr>
          <p:nvPr/>
        </p:nvCxnSpPr>
        <p:spPr>
          <a:xfrm xmlns:a="http://schemas.openxmlformats.org/drawingml/2006/main" flipV="1">
            <a:off x="10129838" y="3152775"/>
            <a:ext cx="0" cy="1162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857A"/>
            </a:solidFill>
            <a:headEnd type="none" w="med" len="med"/>
            <a:tailEnd type="triangle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DA27C-6E33-4FB7-835A-DEB047732DC5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7210425" y="4829175"/>
            <a:ext cx="1562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99"/>
            </a:solidFill>
            <a:headEnd type="none" w="med" len="med"/>
            <a:tailEnd type="triangle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F951D-3E57-48DD-88E8-2E879EACBE6C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952750" y="4829175"/>
            <a:ext cx="1133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99"/>
            </a:solidFill>
            <a:headEnd type="none" w="med" len="med"/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58469-3AEE-4E84-A0DC-076BA0833D16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1781175" y="3152775"/>
            <a:ext cx="0" cy="1162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99"/>
            </a:solidFill>
            <a:headEnd type="none" w="med" len="med"/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E9565-272D-4400-9510-DF468B5A143E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210425" y="2671763"/>
            <a:ext cx="1562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99"/>
            </a:solidFill>
            <a:headEnd type="none" w="med" len="med"/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16984-4067-4CC6-942D-BAB5DCD4040C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952750" y="2671763"/>
            <a:ext cx="1133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B99"/>
            </a:solidFill>
            <a:headEnd type="none" w="med" len="med"/>
            <a:tailEnd type="triangle" w="med" len="med"/>
          </a:ln>
        </p:spPr>
      </p:cxnSp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0D39EF5E-B14B-413E-BF38-C7938676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建模路径与 WGAN 的可选增强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6C8DDA66-B55A-43CF-9D2A-20350251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0" name="gate">
            <a:extLst xmlns:a="http://schemas.openxmlformats.org/drawingml/2006/main">
              <a:ext uri="{FF2B5EF4-FFF2-40B4-BE49-F238E27FC236}">
                <a16:creationId xmlns:a16="http://schemas.microsoft.com/office/drawing/2014/main" id="{31E26A58-75D9-4C8F-8F07-19FD9AAA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默认门槛：同口径连续年度 ≥20，训练 ≥10，验证 4，测试 4</a:t>
            </a:r>
          </a:p>
        </p:txBody>
      </p:sp>
      <p:sp>
        <p:nvSpPr>
          <p:cNvPr id="11" name="train">
            <a:extLst xmlns:a="http://schemas.openxmlformats.org/drawingml/2006/main">
              <a:ext uri="{FF2B5EF4-FFF2-40B4-BE49-F238E27FC236}">
                <a16:creationId xmlns:a16="http://schemas.microsoft.com/office/drawing/2014/main" id="{B66ADD0F-0095-40CB-B30D-49DCCA69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3431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/>
          </a:solidFill>
          <a:ln xmlns:a="http://schemas.openxmlformats.org/drawingml/2006/main" w="9525">
            <a:solidFill>
              <a:srgbClr val="C7D4DE"/>
            </a:solidFill>
          </a:ln>
        </p:spPr>
      </p:sp>
      <p:sp>
        <p:nvSpPr>
          <p:cNvPr id="12" name="train-title">
            <a:extLst xmlns:a="http://schemas.openxmlformats.org/drawingml/2006/main">
              <a:ext uri="{FF2B5EF4-FFF2-40B4-BE49-F238E27FC236}">
                <a16:creationId xmlns:a16="http://schemas.microsoft.com/office/drawing/2014/main" id="{D1EAEAE7-03FE-405F-88F3-CF54CB1E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rPr>
              <a:t>真实训练数据</a:t>
            </a:r>
          </a:p>
        </p:txBody>
      </p:sp>
      <p:sp>
        <p:nvSpPr>
          <p:cNvPr id="13" name="train-sub">
            <a:extLst xmlns:a="http://schemas.openxmlformats.org/drawingml/2006/main">
              <a:ext uri="{FF2B5EF4-FFF2-40B4-BE49-F238E27FC236}">
                <a16:creationId xmlns:a16="http://schemas.microsoft.com/office/drawing/2014/main" id="{0009EDDC-2853-4A78-98CF-C69EF6E2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2114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按时间划分</a:t>
            </a:r>
          </a:p>
        </p:txBody>
      </p:sp>
      <p:sp>
        <p:nvSpPr>
          <p:cNvPr id="14" name="baseline">
            <a:extLst xmlns:a="http://schemas.openxmlformats.org/drawingml/2006/main">
              <a:ext uri="{FF2B5EF4-FFF2-40B4-BE49-F238E27FC236}">
                <a16:creationId xmlns:a16="http://schemas.microsoft.com/office/drawing/2014/main" id="{13179A6A-F159-4644-AB1E-0990F3A9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190750"/>
            <a:ext cx="31242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/>
          </a:solidFill>
          <a:ln xmlns:a="http://schemas.openxmlformats.org/drawingml/2006/main" w="9525">
            <a:solidFill>
              <a:srgbClr val="C7D4DE"/>
            </a:solidFill>
          </a:ln>
        </p:spPr>
      </p:sp>
      <p:sp>
        <p:nvSpPr>
          <p:cNvPr id="15" name="baseline-title">
            <a:extLst xmlns:a="http://schemas.openxmlformats.org/drawingml/2006/main">
              <a:ext uri="{FF2B5EF4-FFF2-40B4-BE49-F238E27FC236}">
                <a16:creationId xmlns:a16="http://schemas.microsoft.com/office/drawing/2014/main" id="{9FA6554B-F893-4EE3-8EF8-D4423925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305050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rPr>
              <a:t>XGBoost 基线</a:t>
            </a:r>
          </a:p>
        </p:txBody>
      </p:sp>
      <p:sp>
        <p:nvSpPr>
          <p:cNvPr id="16" name="baseline-sub">
            <a:extLst xmlns:a="http://schemas.openxmlformats.org/drawingml/2006/main">
              <a:ext uri="{FF2B5EF4-FFF2-40B4-BE49-F238E27FC236}">
                <a16:creationId xmlns:a16="http://schemas.microsoft.com/office/drawing/2014/main" id="{B9B0F439-9211-4B96-8EC6-D1C4A996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657475"/>
            <a:ext cx="2895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只使用真实训练数据</a:t>
            </a:r>
          </a:p>
        </p:txBody>
      </p:sp>
      <p:sp>
        <p:nvSpPr>
          <p:cNvPr id="17" name="test">
            <a:extLst xmlns:a="http://schemas.openxmlformats.org/drawingml/2006/main">
              <a:ext uri="{FF2B5EF4-FFF2-40B4-BE49-F238E27FC236}">
                <a16:creationId xmlns:a16="http://schemas.microsoft.com/office/drawing/2014/main" id="{6AB3F6ED-8246-4BCD-B828-43306E16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190750"/>
            <a:ext cx="27146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/>
          </a:solidFill>
          <a:ln xmlns:a="http://schemas.openxmlformats.org/drawingml/2006/main" w="9525">
            <a:solidFill>
              <a:srgbClr val="C7D4DE"/>
            </a:solidFill>
          </a:ln>
        </p:spPr>
      </p:sp>
      <p:sp>
        <p:nvSpPr>
          <p:cNvPr id="18" name="test-title">
            <a:extLst xmlns:a="http://schemas.openxmlformats.org/drawingml/2006/main">
              <a:ext uri="{FF2B5EF4-FFF2-40B4-BE49-F238E27FC236}">
                <a16:creationId xmlns:a16="http://schemas.microsoft.com/office/drawing/2014/main" id="{864FFE9C-DC82-4718-B7F3-88C5FD89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305050"/>
            <a:ext cx="2486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rPr>
              <a:t>真实验证 / 测试</a:t>
            </a:r>
          </a:p>
        </p:txBody>
      </p:sp>
      <p:sp>
        <p:nvSpPr>
          <p:cNvPr id="19" name="test-sub">
            <a:extLst xmlns:a="http://schemas.openxmlformats.org/drawingml/2006/main">
              <a:ext uri="{FF2B5EF4-FFF2-40B4-BE49-F238E27FC236}">
                <a16:creationId xmlns:a16="http://schemas.microsoft.com/office/drawing/2014/main" id="{01CDA4E6-9BDA-4B42-ADD5-B7C5D95A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657475"/>
            <a:ext cx="24860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MAE、RMSE、R²</a:t>
            </a:r>
          </a:p>
        </p:txBody>
      </p:sp>
      <p:sp>
        <p:nvSpPr>
          <p:cNvPr id="20" name="gan">
            <a:extLst xmlns:a="http://schemas.openxmlformats.org/drawingml/2006/main">
              <a:ext uri="{FF2B5EF4-FFF2-40B4-BE49-F238E27FC236}">
                <a16:creationId xmlns:a16="http://schemas.microsoft.com/office/drawing/2014/main" id="{48D9F7BA-8764-4CD9-AC9E-7E52BAD1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2343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/>
          </a:solidFill>
          <a:ln xmlns:a="http://schemas.openxmlformats.org/drawingml/2006/main" w="9525">
            <a:solidFill>
              <a:srgbClr val="C7D4DE"/>
            </a:solidFill>
          </a:ln>
        </p:spPr>
      </p:sp>
      <p:sp>
        <p:nvSpPr>
          <p:cNvPr id="21" name="gan-title">
            <a:extLst xmlns:a="http://schemas.openxmlformats.org/drawingml/2006/main">
              <a:ext uri="{FF2B5EF4-FFF2-40B4-BE49-F238E27FC236}">
                <a16:creationId xmlns:a16="http://schemas.microsoft.com/office/drawing/2014/main" id="{84724FE7-614E-4970-AA92-57EBB5BE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rPr>
              <a:t>WGAN-GP</a:t>
            </a:r>
          </a:p>
        </p:txBody>
      </p:sp>
      <p:sp>
        <p:nvSpPr>
          <p:cNvPr id="22" name="gan-sub">
            <a:extLst xmlns:a="http://schemas.openxmlformats.org/drawingml/2006/main">
              <a:ext uri="{FF2B5EF4-FFF2-40B4-BE49-F238E27FC236}">
                <a16:creationId xmlns:a16="http://schemas.microsoft.com/office/drawing/2014/main" id="{02DF3F5D-1202-4D52-B8AD-AC1FE20E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真实训练数 × 5</a:t>
            </a:r>
          </a:p>
        </p:txBody>
      </p:sp>
      <p:sp>
        <p:nvSpPr>
          <p:cNvPr id="23" name="review">
            <a:extLst xmlns:a="http://schemas.openxmlformats.org/drawingml/2006/main">
              <a:ext uri="{FF2B5EF4-FFF2-40B4-BE49-F238E27FC236}">
                <a16:creationId xmlns:a16="http://schemas.microsoft.com/office/drawing/2014/main" id="{F77E3ACF-72A7-4B6D-A63B-B8D1009C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314825"/>
            <a:ext cx="3124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/>
          </a:solidFill>
          <a:ln xmlns:a="http://schemas.openxmlformats.org/drawingml/2006/main" w="9525">
            <a:solidFill>
              <a:srgbClr val="C7D4DE"/>
            </a:solidFill>
          </a:ln>
        </p:spPr>
      </p:sp>
      <p:sp>
        <p:nvSpPr>
          <p:cNvPr id="24" name="review-title">
            <a:extLst xmlns:a="http://schemas.openxmlformats.org/drawingml/2006/main">
              <a:ext uri="{FF2B5EF4-FFF2-40B4-BE49-F238E27FC236}">
                <a16:creationId xmlns:a16="http://schemas.microsoft.com/office/drawing/2014/main" id="{0ECAFC0F-2272-451B-ADFC-EE9DCAE5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429125"/>
            <a:ext cx="289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rPr>
              <a:t>质量检查与 t-SNE</a:t>
            </a:r>
          </a:p>
        </p:txBody>
      </p:sp>
      <p:sp>
        <p:nvSpPr>
          <p:cNvPr id="25" name="review-sub">
            <a:extLst xmlns:a="http://schemas.openxmlformats.org/drawingml/2006/main">
              <a:ext uri="{FF2B5EF4-FFF2-40B4-BE49-F238E27FC236}">
                <a16:creationId xmlns:a16="http://schemas.microsoft.com/office/drawing/2014/main" id="{56087281-6DA3-4297-B2BF-13630644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781550"/>
            <a:ext cx="289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用户再次确认是否采用</a:t>
            </a:r>
          </a:p>
        </p:txBody>
      </p:sp>
      <p:sp>
        <p:nvSpPr>
          <p:cNvPr id="26" name="augmented">
            <a:extLst xmlns:a="http://schemas.openxmlformats.org/drawingml/2006/main">
              <a:ext uri="{FF2B5EF4-FFF2-40B4-BE49-F238E27FC236}">
                <a16:creationId xmlns:a16="http://schemas.microsoft.com/office/drawing/2014/main" id="{0ED979C9-5D56-4CA1-9D08-710CE565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314825"/>
            <a:ext cx="2714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9"/>
          </a:solidFill>
          <a:ln xmlns:a="http://schemas.openxmlformats.org/drawingml/2006/main" w="9525">
            <a:solidFill>
              <a:srgbClr val="C7D4DE"/>
            </a:solidFill>
          </a:ln>
        </p:spPr>
      </p:sp>
      <p:sp>
        <p:nvSpPr>
          <p:cNvPr id="27" name="augmented-title">
            <a:extLst xmlns:a="http://schemas.openxmlformats.org/drawingml/2006/main">
              <a:ext uri="{FF2B5EF4-FFF2-40B4-BE49-F238E27FC236}">
                <a16:creationId xmlns:a16="http://schemas.microsoft.com/office/drawing/2014/main" id="{92D040A4-3243-4242-9584-2380EBFE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429125"/>
            <a:ext cx="2486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rPr>
              <a:t>增强后 XGBoost</a:t>
            </a:r>
          </a:p>
        </p:txBody>
      </p:sp>
      <p:sp>
        <p:nvSpPr>
          <p:cNvPr id="28" name="augmented-sub">
            <a:extLst xmlns:a="http://schemas.openxmlformats.org/drawingml/2006/main">
              <a:ext uri="{FF2B5EF4-FFF2-40B4-BE49-F238E27FC236}">
                <a16:creationId xmlns:a16="http://schemas.microsoft.com/office/drawing/2014/main" id="{A0FE2EF8-30FF-47BD-AB1B-3A431A76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781550"/>
            <a:ext cx="24860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验证改善才保留增强</a:t>
            </a:r>
          </a:p>
        </p:txBody>
      </p:sp>
      <p:sp>
        <p:nvSpPr>
          <p:cNvPr id="29" name="gan-choice">
            <a:extLst xmlns:a="http://schemas.openxmlformats.org/drawingml/2006/main">
              <a:ext uri="{FF2B5EF4-FFF2-40B4-BE49-F238E27FC236}">
                <a16:creationId xmlns:a16="http://schemas.microsoft.com/office/drawing/2014/main" id="{1758CA50-7D2F-4EB4-87BA-8F936EB6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286125"/>
            <a:ext cx="1857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75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75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75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75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75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75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75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75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75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rPr>
              <a:t>真实训练 ≥64</a:t>
            </a:r>
          </a:p>
          <a:p xmlns:a="http://schemas.openxmlformats.org/drawingml/2006/main">
            <a:pPr algn="l">
              <a:defRPr sz="1725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rPr>
              <a:t>且用户同意训练</a:t>
            </a:r>
          </a:p>
        </p:txBody>
      </p:sp>
      <p:sp>
        <p:nvSpPr>
          <p:cNvPr id="30" name="framework">
            <a:extLst xmlns:a="http://schemas.openxmlformats.org/drawingml/2006/main">
              <a:ext uri="{FF2B5EF4-FFF2-40B4-BE49-F238E27FC236}">
                <a16:creationId xmlns:a16="http://schemas.microsoft.com/office/drawing/2014/main" id="{F7A5C0DF-609A-4FD2-A6E9-496A88F5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09950"/>
            <a:ext cx="41624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PyTorch 或 TensorFlow</a:t>
            </a:r>
          </a:p>
          <a:p xmlns:a="http://schemas.openxmlformats.org/drawingml/2006/main">
            <a: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其余参数由 JSON 配置</a:t>
            </a:r>
          </a:p>
        </p:txBody>
      </p:sp>
      <p:sp>
        <p:nvSpPr>
          <p:cNvPr id="31" name="isolation">
            <a:extLst xmlns:a="http://schemas.openxmlformats.org/drawingml/2006/main">
              <a:ext uri="{FF2B5EF4-FFF2-40B4-BE49-F238E27FC236}">
                <a16:creationId xmlns:a16="http://schemas.microsoft.com/office/drawing/2014/main" id="{00788FE4-91AE-4A1D-86B4-668C5A8E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IsolationForest 仅检查训练异常，默认标记不删除。验证与测试保留真实数据。</a:t>
            </a:r>
          </a:p>
        </p:txBody>
      </p:sp>
      <p:sp>
        <p:nvSpPr>
          <p:cNvPr id="32" name="tsne-limitation">
            <a:extLst xmlns:a="http://schemas.openxmlformats.org/drawingml/2006/main">
              <a:ext uri="{FF2B5EF4-FFF2-40B4-BE49-F238E27FC236}">
                <a16:creationId xmlns:a16="http://schemas.microsoft.com/office/drawing/2014/main" id="{12E52BDE-E913-4218-B13E-4C65649E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09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t-SNE 只辅助观察分布，不证明生成数据可靠</a:t>
            </a:r>
          </a:p>
        </p:txBody>
      </p:sp>
    </p:spTree>
    <p:extLst>
      <p:ext uri="{BB962C8B-B14F-4D97-AF65-F5344CB8AC3E}">
        <p14:creationId xmlns:p14="http://schemas.microsoft.com/office/powerpoint/2010/main" val="14194583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71EBFD9-8366-40D5-8203-5C0CEA52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输出结果与当前实现边界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398B95D2-8105-4A10-8E09-0C1866A9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34125"/>
            <a:ext cx="61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D6D7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output-head">
            <a:extLst xmlns:a="http://schemas.openxmlformats.org/drawingml/2006/main">
              <a:ext uri="{FF2B5EF4-FFF2-40B4-BE49-F238E27FC236}">
                <a16:creationId xmlns:a16="http://schemas.microsoft.com/office/drawing/2014/main" id="{D3ACACBD-F646-453E-A963-8232E918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4724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6B99"/>
                </a:solidFill>
                <a:latin typeface="Microsoft YaHei"/>
                <a:ea typeface="Microsoft YaHei"/>
                <a:cs typeface="Microsoft YaHei"/>
              </a:rPr>
              <a:t>研究产物</a:t>
            </a:r>
          </a:p>
        </p:txBody>
      </p:sp>
      <p:sp>
        <p:nvSpPr>
          <p:cNvPr id="5" name="outputs">
            <a:extLst xmlns:a="http://schemas.openxmlformats.org/drawingml/2006/main">
              <a:ext uri="{FF2B5EF4-FFF2-40B4-BE49-F238E27FC236}">
                <a16:creationId xmlns:a16="http://schemas.microsoft.com/office/drawing/2014/main" id="{0ED90930-EBEA-45CD-9DA8-B77487E6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076825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CSV：原始候选、清洗与预测</a:t>
            </a:r>
          </a:p>
          <a:p xmlns:a="http://schemas.openxmlformats.org/drawingml/2006/main">
            <a:pPr algn="l"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Matplotlib：性能图与 t-SNE（PNG）</a:t>
            </a:r>
          </a:p>
          <a:p xmlns:a="http://schemas.openxmlformats.org/drawingml/2006/main">
            <a:pPr algn="l"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JSON：来源、诊断、配置与模型</a:t>
            </a:r>
          </a:p>
          <a:p xmlns:a="http://schemas.openxmlformats.org/drawingml/2006/main">
            <a:pPr algn="l">
              <a:def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报告：本轮数据的发展趋势</a:t>
            </a:r>
          </a:p>
        </p:txBody>
      </p:sp>
      <p:sp>
        <p:nvSpPr>
          <p:cNvPr id="6" name="runtime-head">
            <a:extLst xmlns:a="http://schemas.openxmlformats.org/drawingml/2006/main">
              <a:ext uri="{FF2B5EF4-FFF2-40B4-BE49-F238E27FC236}">
                <a16:creationId xmlns:a16="http://schemas.microsoft.com/office/drawing/2014/main" id="{CD9FD4F8-3464-4545-B397-57D38200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14475"/>
            <a:ext cx="4905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857A"/>
                </a:solidFill>
                <a:latin typeface="Microsoft YaHei"/>
                <a:ea typeface="Microsoft YaHei"/>
                <a:cs typeface="Microsoft YaHei"/>
              </a:rPr>
              <a:t>运行与部署</a:t>
            </a:r>
          </a:p>
        </p:txBody>
      </p:sp>
      <p:sp>
        <p:nvSpPr>
          <p:cNvPr id="7" name="runtime">
            <a:extLst xmlns:a="http://schemas.openxmlformats.org/drawingml/2006/main">
              <a:ext uri="{FF2B5EF4-FFF2-40B4-BE49-F238E27FC236}">
                <a16:creationId xmlns:a16="http://schemas.microsoft.com/office/drawing/2014/main" id="{01DF5F66-4895-4CD1-B36E-A93808AB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71700"/>
            <a:ext cx="49149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统一 Python 3.12 根目录 .venv</a:t>
            </a:r>
          </a:p>
          <a:p xmlns:a="http://schemas.openxmlformats.org/drawingml/2006/main">
            <a:pPr algn="l"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React / Next.js 使用 Node.js 环境</a:t>
            </a:r>
          </a:p>
          <a:p xmlns:a="http://schemas.openxmlformats.org/drawingml/2006/main">
            <a:pPr algn="l"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CPU 可运行，WGAN 耗时取决于配置</a:t>
            </a:r>
          </a:p>
          <a:p xmlns:a="http://schemas.openxmlformats.org/drawingml/2006/main">
            <a:pPr algn="l">
              <a:def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LLM 用 API，最后一次性总结趋势</a:t>
            </a:r>
          </a:p>
        </p:txBody>
      </p:sp>
      <p:sp>
        <p:nvSpPr>
          <p:cNvPr id="8" name="limit">
            <a:extLst xmlns:a="http://schemas.openxmlformats.org/drawingml/2006/main">
              <a:ext uri="{FF2B5EF4-FFF2-40B4-BE49-F238E27FC236}">
                <a16:creationId xmlns:a16="http://schemas.microsoft.com/office/drawing/2014/main" id="{88E2CDDB-668D-49D5-A243-A694989F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9A651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9A651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9A651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9A651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9A651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9A651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9A651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9A651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9A651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9A651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9A65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A6519"/>
                </a:solidFill>
                <a:latin typeface="Microsoft YaHei"/>
                <a:ea typeface="Microsoft YaHei"/>
                <a:cs typeface="Microsoft YaHei"/>
              </a:rPr>
              <a:t>当前实测曾触发探索性 XGBoost，但预测误差仍高于末值基线</a:t>
            </a:r>
          </a:p>
        </p:txBody>
      </p:sp>
      <p:sp>
        <p:nvSpPr>
          <p:cNvPr id="9" name="conclusion">
            <a:extLst xmlns:a="http://schemas.openxmlformats.org/drawingml/2006/main">
              <a:ext uri="{FF2B5EF4-FFF2-40B4-BE49-F238E27FC236}">
                <a16:creationId xmlns:a16="http://schemas.microsoft.com/office/drawing/2014/main" id="{389F659F-6D24-45C7-9DCF-8A9A62B9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B46"/>
                </a:solidFill>
                <a:latin typeface="Microsoft YaHei"/>
                <a:ea typeface="Microsoft YaHei"/>
                <a:cs typeface="Microsoft YaHei"/>
              </a:rPr>
              <a:t>材料可追溯，模型结果按真实测试表现说明</a:t>
            </a:r>
          </a:p>
        </p:txBody>
      </p:sp>
    </p:spTree>
    <p:extLst>
      <p:ext uri="{BB962C8B-B14F-4D97-AF65-F5344CB8AC3E}">
        <p14:creationId xmlns:p14="http://schemas.microsoft.com/office/powerpoint/2010/main" val="20480212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2026-10-22T11:51:37.9100000Z</dcterms:created>
  <dcterms:modified xsi:type="dcterms:W3CDTF">2026-10-22T11:51:37.9100000Z</dcterms:modified>
</coreProperties>
</file>